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5E2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5E20"/>
                </a:solidFill>
                <a:latin typeface="Arial"/>
              </a:rPr>
              <a:t>Test-set Prediction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 Irrigation (0)</c:v>
                  </c:pt>
                  <c:pt idx="1">
                    <c:v>Moderate (1)</c:v>
                  </c:pt>
                  <c:pt idx="2">
                    <c:v>High (2)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697</c:v>
                </c:pt>
                <c:pt idx="1">
                  <c:v>458</c:v>
                </c:pt>
                <c:pt idx="2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74320" cy="50337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Rajeev Gandhi Memorial College of Engineering &amp; Technology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(Artificial Intelligence &amp; Machine Learning)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Irrigation System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2560320" y="2176272"/>
            <a:ext cx="402336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21762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Automated Irrigation for Agriculture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2788920"/>
            <a:ext cx="3291840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28346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Pathuru Guru Vishnu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23091A3317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788920"/>
            <a:ext cx="3291840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8346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Maddula Sumanth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23091A3351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82219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Mr. V. Phanishwara Hara Gopal M.Tech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1148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29/12/2025 – 08/04/2026  |  A.Y. 2025-26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system that automates sprinkler irrigation for wheat crops using Machine Learning and Arduino embedded systems.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technologies: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ML Model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microcontroller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DHT11, Soil Moisture &amp; Rain sensors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 + LCD display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1828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5270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19293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water wastage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20840" y="1508760"/>
            <a:ext cx="1828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5270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🌾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20840" y="19293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crop productivity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2560320"/>
            <a:ext cx="1828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5786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09160" y="29809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Minimises manual intervention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2560320"/>
            <a:ext cx="1828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5786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🌧️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20840" y="29809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Auto-stops during rainfall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611880"/>
            <a:ext cx="1828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6301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09160" y="40325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LCD monitoring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20840" y="3611880"/>
            <a:ext cx="1828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6301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♻️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20840" y="40325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sustainable farming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77640"/>
          </a:xfrm>
          <a:prstGeom prst="rect">
            <a:avLst/>
          </a:prstGeom>
          <a:solidFill>
            <a:srgbClr val="FFF3E0"/>
          </a:solidFill>
          <a:ln w="19050">
            <a:solidFill>
              <a:srgbClr val="FFCC0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Problems with Traditional Irrigation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Over-irrigation → water waste &amp; soil erosion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Under-irrigation → poor plant growth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schedules ignore real-time conditions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of multi-sensor 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labor cost for continuous monitoring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not considered in irrigation logic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97680" cy="397764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14400"/>
            <a:ext cx="42976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914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Project Objectives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soil moisture, temperature, humidity &amp; rainfall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Decision Tree model for irrigation classification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control water pump via relay module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irrigation immediately on rainfall detection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water wastage &amp; improve efficiency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real-time data on 16×2 LCD screen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Proposed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201168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9202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50876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(Temp/Humidity)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Sensor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31720" y="1005840"/>
            <a:ext cx="1920240" cy="201168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31720" y="1005840"/>
            <a:ext cx="192024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04872" y="150876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sensor values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decision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 real-time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005840"/>
            <a:ext cx="1920240" cy="201168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005840"/>
            <a:ext cx="1920240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Rules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62272" y="150876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conditions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from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model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1005840"/>
            <a:ext cx="1920240" cy="20116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1005840"/>
            <a:ext cx="192024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9672" y="150876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water pump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/ OFF signal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12848" y="2011680"/>
            <a:ext cx="109728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12848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D32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270248" y="2011680"/>
            <a:ext cx="109728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0248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D32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327648" y="2011680"/>
            <a:ext cx="109728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D32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02920" y="3383280"/>
            <a:ext cx="2606040" cy="1554480"/>
          </a:xfrm>
          <a:prstGeom prst="rect">
            <a:avLst/>
          </a:prstGeom>
          <a:solidFill>
            <a:srgbClr val="E0F7FA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6072" y="34290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Water Pump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6072" y="382219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ON/OFF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soil moisture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rain status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3383280"/>
            <a:ext cx="2606040" cy="155448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456432" y="34290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LCD Display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56432" y="382219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temp, humidity,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moisture, rain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irrigation status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3383280"/>
            <a:ext cx="2606040" cy="15544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36792" y="34290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Output Classes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36792" y="382219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No Irrigation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Moderate Irrigation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= High Irrigation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3000" y="303580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D32"/>
                </a:solidFill>
              </a:rPr>
              <a:t>↓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023360" y="303580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D32"/>
                </a:solidFill>
              </a:rPr>
              <a:t>↓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03720" y="303580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D32"/>
                </a:solidFill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Model – Decision Tree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Decision Tree?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 &amp; easy to implement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if-else rules for Arduino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Entropy &amp; Information Gain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multi-feature classification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3364992"/>
            <a:ext cx="1188720" cy="12344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341071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88.6%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4048" y="3977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09928" y="3364992"/>
            <a:ext cx="1188720" cy="12344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9928" y="341071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6,213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09928" y="3977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35808" y="3364992"/>
            <a:ext cx="1188720" cy="1234440"/>
          </a:xfrm>
          <a:prstGeom prst="rect">
            <a:avLst/>
          </a:prstGeom>
          <a:solidFill>
            <a:srgbClr val="E8F5E9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341071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/ 20%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035808" y="3977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Test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960120"/>
            <a:ext cx="4297680" cy="3977640"/>
          </a:xfrm>
          <a:prstGeom prst="rect">
            <a:avLst/>
          </a:prstGeom>
          <a:solidFill>
            <a:srgbClr val="1A1A2E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0241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Logic (Arduino Code)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(rainfall == 1) {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783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 // No Irrigation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103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423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(moisture &lt; 400) {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2743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2; // High Irrigation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3063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(moisture &lt; 700) {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383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1; // Moderate Irrig.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3703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4023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 // No Irrigation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4343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Requirements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Hardware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07592"/>
          <a:ext cx="4160520" cy="3474720"/>
        </p:xfrm>
        <a:graphic>
          <a:graphicData uri="http://schemas.openxmlformats.org/drawingml/2006/table">
            <a:tbl>
              <a:tblPr/>
              <a:tblGrid>
                <a:gridCol w="2080260"/>
                <a:gridCol w="20802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Uno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microcontroller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Moisture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soil water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rainfall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DHT11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&amp; humidity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water pump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Display (16×2)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real-time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Pump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Supplies water to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144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Software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07592"/>
          <a:ext cx="4206240" cy="315468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Library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code to Arduino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ML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computation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Decision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simulation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141732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2412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88.6%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7556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960120"/>
            <a:ext cx="1965960" cy="14173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2412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6,213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17556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965960" cy="1417320"/>
          </a:xfrm>
          <a:prstGeom prst="rect">
            <a:avLst/>
          </a:prstGeom>
          <a:solidFill>
            <a:srgbClr val="E0F2F1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2412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17556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960120"/>
            <a:ext cx="1965960" cy="141732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24128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20840" y="17556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514600"/>
          <a:ext cx="4389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4892040" y="2514600"/>
            <a:ext cx="3977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0" y="25786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Proteus Simulation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9200" y="297180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Circuit validated before execution — all connections verified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execution, LCD showed sensor readings &amp; irrigation level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Relay toggled pump ON/OFF correctly based on decision logic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Rain detection immediately stopped irrigation as designed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System correctly classified: High / Moderate / No Irrigation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Irrigation System successfully automates irrigation using a Decision Tree ML model and Arduino.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 model accuracy on test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pump control via relay module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LCD monitoring of all parameters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rain detection &amp; irrigation halt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Cost-effective, low-complexity solution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0CB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60120"/>
            <a:ext cx="429768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601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1508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Advanced ML algorithms for better accuracy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09160" y="19842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IoT integration for remote mobile monitoring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09160" y="245973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Solar power for energy efficiency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09160" y="293522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Additional sensors (pH, nutrients, light)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34107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storage for historical data analysis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09160" y="3886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🌦️  Weather forecast integration for smarter planning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09160" y="43616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Multi-crop support with tailored irrigation profiles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30352"/>
          </a:xfrm>
          <a:prstGeom prst="rect">
            <a:avLst/>
          </a:prstGeom>
          <a:solidFill>
            <a:srgbClr val="253882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418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S. Ghosh et al., Smart irrigation: A smart drip irrigation system using cloud, android and data mining, IEEE ICAECCT, 2016.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499616"/>
            <a:ext cx="8595360" cy="530352"/>
          </a:xfrm>
          <a:prstGeom prst="rect">
            <a:avLst/>
          </a:prstGeom>
          <a:solidFill>
            <a:srgbClr val="1E2F77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2704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S. Vaishali et al., Mobile integrated smart irrigation management using IoT, IEEE ICCSP, 2017.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8595360" cy="530352"/>
          </a:xfrm>
          <a:prstGeom prst="rect">
            <a:avLst/>
          </a:prstGeom>
          <a:solidFill>
            <a:srgbClr val="253882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1226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S. B. Saraf &amp; D. H. Gawali, IoT based smart irrigation monitoring and controlling system, IEEE RTEICT, 2017.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670048"/>
            <a:ext cx="8595360" cy="530352"/>
          </a:xfrm>
          <a:prstGeom prst="rect">
            <a:avLst/>
          </a:prstGeom>
          <a:solidFill>
            <a:srgbClr val="1E2F77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974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Goldstein et al., Applying machine learning on sensor data for irrigation recommendations, Precision Agriculture, 2017.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255264"/>
            <a:ext cx="8595360" cy="530352"/>
          </a:xfrm>
          <a:prstGeom prst="rect">
            <a:avLst/>
          </a:prstGeom>
          <a:solidFill>
            <a:srgbClr val="253882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8269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Y. Chang et al., A machine learning based smart irrigation system with LoRa P2P networks, APNOMS, 2019.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840480"/>
            <a:ext cx="8595360" cy="530352"/>
          </a:xfrm>
          <a:prstGeom prst="rect">
            <a:avLst/>
          </a:prstGeom>
          <a:solidFill>
            <a:srgbClr val="1E2F77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86791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F. Capraro et al., Neural network-based irrigation control for precision agriculture, IEEE ICNSC, 2008.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425696"/>
            <a:ext cx="8595360" cy="530352"/>
          </a:xfrm>
          <a:prstGeom prst="rect">
            <a:avLst/>
          </a:prstGeom>
          <a:solidFill>
            <a:srgbClr val="253882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45312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James, G. et al., An Introduction to Statistical Learning, Springer, 2013.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Smart Irrigation System  |  Dept. of CSE (AI&amp;ML), RGMCET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 System</dc:title>
  <dc:subject>PptxGenJS Presentation</dc:subject>
  <dc:creator>PptxGenJS</dc:creator>
  <cp:lastModifiedBy>PptxGenJS</cp:lastModifiedBy>
  <cp:revision>1</cp:revision>
  <dcterms:created xsi:type="dcterms:W3CDTF">2026-04-18T04:40:10Z</dcterms:created>
  <dcterms:modified xsi:type="dcterms:W3CDTF">2026-04-18T04:40:10Z</dcterms:modified>
</cp:coreProperties>
</file>